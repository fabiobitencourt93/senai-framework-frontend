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  <p:sldMasterId id="2147483697" r:id="rId5"/>
    <p:sldMasterId id="214748369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Roboto"/>
      <p:regular r:id="rId38"/>
      <p:bold r:id="rId39"/>
      <p:italic r:id="rId40"/>
      <p:boldItalic r:id="rId41"/>
    </p:embeddedFont>
    <p:embeddedFont>
      <p:font typeface="Lato"/>
      <p:regular r:id="rId42"/>
      <p:bold r:id="rId43"/>
      <p:italic r:id="rId44"/>
      <p:boldItalic r:id="rId45"/>
    </p:embeddedFont>
    <p:embeddedFont>
      <p:font typeface="Inter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42" Type="http://schemas.openxmlformats.org/officeDocument/2006/relationships/font" Target="fonts/Lato-regular.fntdata"/><Relationship Id="rId41" Type="http://schemas.openxmlformats.org/officeDocument/2006/relationships/font" Target="fonts/Roboto-boldItalic.fntdata"/><Relationship Id="rId44" Type="http://schemas.openxmlformats.org/officeDocument/2006/relationships/font" Target="fonts/Lato-italic.fntdata"/><Relationship Id="rId43" Type="http://schemas.openxmlformats.org/officeDocument/2006/relationships/font" Target="fonts/Lato-bold.fntdata"/><Relationship Id="rId46" Type="http://schemas.openxmlformats.org/officeDocument/2006/relationships/font" Target="fonts/Inter-regular.fntdata"/><Relationship Id="rId45" Type="http://schemas.openxmlformats.org/officeDocument/2006/relationships/font" Target="fonts/Lato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font" Target="fonts/Raleway-bold.fntdata"/><Relationship Id="rId34" Type="http://schemas.openxmlformats.org/officeDocument/2006/relationships/font" Target="fonts/Raleway-regular.fntdata"/><Relationship Id="rId37" Type="http://schemas.openxmlformats.org/officeDocument/2006/relationships/font" Target="fonts/Raleway-boldItalic.fntdata"/><Relationship Id="rId36" Type="http://schemas.openxmlformats.org/officeDocument/2006/relationships/font" Target="fonts/Raleway-italic.fntdata"/><Relationship Id="rId39" Type="http://schemas.openxmlformats.org/officeDocument/2006/relationships/font" Target="fonts/Roboto-bold.fntdata"/><Relationship Id="rId38" Type="http://schemas.openxmlformats.org/officeDocument/2006/relationships/font" Target="fonts/Roboto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dcc85e21e8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dcc85e21e8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324ad155b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9324ad155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313d7020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c313d7020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c9918d24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c9918d24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c9918d24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c9918d24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c9918d24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c9918d24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141f7f245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141f7f245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67175409a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67175409a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67175409a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67175409a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67175409a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67175409a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67175409a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67175409a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67175409a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f67175409a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f67175409a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f67175409a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67175409a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f67175409a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67175409a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f67175409a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c9918d242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bc9918d242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c9918d24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bc9918d24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67175409a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67175409a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67175409a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67175409a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67175409a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f67175409a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c9918d24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bc9918d24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bc9918d24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bc9918d24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c9918d24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c9918d24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bc9918d24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bc9918d24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67175409a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f67175409a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c9918d24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bc9918d24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7950" y="1936463"/>
            <a:ext cx="7688100" cy="12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4000"/>
              <a:buFont typeface="Roboto"/>
              <a:buNone/>
              <a:defRPr sz="4000">
                <a:solidFill>
                  <a:srgbClr val="272F6D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449550" y="3874175"/>
            <a:ext cx="82449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93DC"/>
              </a:buClr>
              <a:buSzPts val="2200"/>
              <a:buFont typeface="Roboto"/>
              <a:buNone/>
              <a:defRPr sz="2200">
                <a:solidFill>
                  <a:srgbClr val="0093D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830400" y="1053850"/>
            <a:ext cx="745800" cy="2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902868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6" name="Google Shape;6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" name="Google Shape;6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3" name="Google Shape;7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  <a:defRPr sz="22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816175" y="1175850"/>
            <a:ext cx="857700" cy="19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79" name="Google Shape;7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902868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1">
  <p:cSld name="TITLE_AND_BODY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3" name="Google Shape;83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1000"/>
            <a:ext cx="2825651" cy="10112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816175" y="1175850"/>
            <a:ext cx="857700" cy="19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1" name="Google Shape;91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0" name="Google Shape;100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7" name="Google Shape;107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20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2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4" name="Google Shape;114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2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1" name="Google Shape;121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5" name="Google Shape;125;p2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2" name="Google Shape;132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2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" name="Google Shape;14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2" name="Google Shape;14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2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5" name="Google Shape;145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3">
  <p:cSld name="TITLE_3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9" name="Google Shape;149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4">
  <p:cSld name="TITLE_4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3" name="Google Shape;153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4" name="Google Shape;15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>
  <p:cSld name="TITLE_5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2381" y="4800600"/>
            <a:ext cx="91416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/>
          <p:nvPr/>
        </p:nvSpPr>
        <p:spPr>
          <a:xfrm>
            <a:off x="11" y="4750737"/>
            <a:ext cx="9141600" cy="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 txBox="1"/>
          <p:nvPr>
            <p:ph type="ctrTitle"/>
          </p:nvPr>
        </p:nvSpPr>
        <p:spPr>
          <a:xfrm>
            <a:off x="822960" y="569214"/>
            <a:ext cx="75438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  <a:defRPr sz="6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" type="subTitle"/>
          </p:nvPr>
        </p:nvSpPr>
        <p:spPr>
          <a:xfrm>
            <a:off x="825038" y="3341715"/>
            <a:ext cx="7543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60" name="Google Shape;160;p30"/>
          <p:cNvSpPr txBox="1"/>
          <p:nvPr>
            <p:ph idx="10" type="dt"/>
          </p:nvPr>
        </p:nvSpPr>
        <p:spPr>
          <a:xfrm>
            <a:off x="822960" y="4844839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11" type="ftr"/>
          </p:nvPr>
        </p:nvSpPr>
        <p:spPr>
          <a:xfrm>
            <a:off x="2764639" y="4844839"/>
            <a:ext cx="361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0"/>
          <p:cNvSpPr txBox="1"/>
          <p:nvPr>
            <p:ph idx="12" type="sldNum"/>
          </p:nvPr>
        </p:nvSpPr>
        <p:spPr>
          <a:xfrm>
            <a:off x="7425343" y="4844839"/>
            <a:ext cx="9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63" name="Google Shape;163;p30"/>
          <p:cNvCxnSpPr/>
          <p:nvPr/>
        </p:nvCxnSpPr>
        <p:spPr>
          <a:xfrm>
            <a:off x="905744" y="3257550"/>
            <a:ext cx="74067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_1">
  <p:cSld name="TITLE_4_1"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7" name="Google Shape;167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31"/>
          <p:cNvSpPr txBox="1"/>
          <p:nvPr>
            <p:ph type="ctrTitle"/>
          </p:nvPr>
        </p:nvSpPr>
        <p:spPr>
          <a:xfrm>
            <a:off x="727950" y="1936463"/>
            <a:ext cx="76881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000"/>
              <a:buFont typeface="Roboto"/>
              <a:buNone/>
              <a:defRPr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0" name="Google Shape;170;p31"/>
          <p:cNvSpPr txBox="1"/>
          <p:nvPr>
            <p:ph idx="1" type="subTitle"/>
          </p:nvPr>
        </p:nvSpPr>
        <p:spPr>
          <a:xfrm>
            <a:off x="449550" y="3874175"/>
            <a:ext cx="82449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None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1" name="Google Shape;171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2" name="Google Shape;172;p31"/>
          <p:cNvSpPr/>
          <p:nvPr/>
        </p:nvSpPr>
        <p:spPr>
          <a:xfrm>
            <a:off x="830400" y="1053850"/>
            <a:ext cx="745800" cy="2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3" name="Google Shape;173;p31"/>
          <p:cNvSpPr txBox="1"/>
          <p:nvPr>
            <p:ph idx="2" type="ctrTitle"/>
          </p:nvPr>
        </p:nvSpPr>
        <p:spPr>
          <a:xfrm>
            <a:off x="1379700" y="0"/>
            <a:ext cx="7688100" cy="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None/>
              <a:defRPr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174" name="Google Shape;174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75" y="43225"/>
            <a:ext cx="2892479" cy="66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82" name="Google Shape;182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33"/>
          <p:cNvSpPr txBox="1"/>
          <p:nvPr>
            <p:ph type="ctrTitle"/>
          </p:nvPr>
        </p:nvSpPr>
        <p:spPr>
          <a:xfrm>
            <a:off x="727950" y="1936463"/>
            <a:ext cx="7688100" cy="12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oboto"/>
              <a:buNone/>
              <a:defRPr sz="4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33"/>
          <p:cNvSpPr txBox="1"/>
          <p:nvPr>
            <p:ph idx="1" type="subTitle"/>
          </p:nvPr>
        </p:nvSpPr>
        <p:spPr>
          <a:xfrm>
            <a:off x="449550" y="3874175"/>
            <a:ext cx="82449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Roboto"/>
              <a:buNone/>
              <a:defRPr sz="2200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7" name="Google Shape;187;p33"/>
          <p:cNvSpPr/>
          <p:nvPr/>
        </p:nvSpPr>
        <p:spPr>
          <a:xfrm>
            <a:off x="830400" y="1053850"/>
            <a:ext cx="745800" cy="2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902868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1" name="Google Shape;19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8" name="Google Shape;198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  <a:defRPr sz="22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2" name="Google Shape;202;p35"/>
          <p:cNvSpPr/>
          <p:nvPr/>
        </p:nvSpPr>
        <p:spPr>
          <a:xfrm>
            <a:off x="816175" y="1175850"/>
            <a:ext cx="857700" cy="19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5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04" name="Google Shape;20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902868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1">
  <p:cSld name="TITLE_AND_BODY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8" name="Google Shape;208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1" name="Google Shape;21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1000"/>
            <a:ext cx="2825651" cy="101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6"/>
          <p:cNvSpPr/>
          <p:nvPr/>
        </p:nvSpPr>
        <p:spPr>
          <a:xfrm>
            <a:off x="816175" y="1175850"/>
            <a:ext cx="857700" cy="19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p3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16" name="Google Shape;216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3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5" name="Google Shape;225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" name="Google Shape;227;p3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" name="Google Shape;231;p3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32" name="Google Shape;232;p3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p3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6" name="Google Shape;236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239" name="Google Shape;239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4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4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46" name="Google Shape;246;p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" name="Google Shape;248;p4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9" name="Google Shape;249;p4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0" name="Google Shape;250;p4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1" name="Google Shape;251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254" name="Google Shape;254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4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257" name="Google Shape;257;p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4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6" name="Google Shape;266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7" name="Google Shape;26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">
  <p:cSld name="TITLE_2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0" name="Google Shape;270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1" name="Google Shape;27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3">
  <p:cSld name="TITLE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4" name="Google Shape;274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5" name="Google Shape;27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4">
  <p:cSld name="TITLE_4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8" name="Google Shape;278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9" name="Google Shape;27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>
  <p:cSld name="TITLE_5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9"/>
          <p:cNvSpPr/>
          <p:nvPr/>
        </p:nvSpPr>
        <p:spPr>
          <a:xfrm>
            <a:off x="2381" y="4800600"/>
            <a:ext cx="91416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9"/>
          <p:cNvSpPr/>
          <p:nvPr/>
        </p:nvSpPr>
        <p:spPr>
          <a:xfrm>
            <a:off x="11" y="4750737"/>
            <a:ext cx="9141600" cy="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9"/>
          <p:cNvSpPr txBox="1"/>
          <p:nvPr>
            <p:ph type="ctrTitle"/>
          </p:nvPr>
        </p:nvSpPr>
        <p:spPr>
          <a:xfrm>
            <a:off x="822960" y="569214"/>
            <a:ext cx="75438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  <a:defRPr sz="6000"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" name="Google Shape;284;p49"/>
          <p:cNvSpPr txBox="1"/>
          <p:nvPr>
            <p:ph idx="1" type="subTitle"/>
          </p:nvPr>
        </p:nvSpPr>
        <p:spPr>
          <a:xfrm>
            <a:off x="825038" y="3341715"/>
            <a:ext cx="7543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85" name="Google Shape;285;p49"/>
          <p:cNvSpPr txBox="1"/>
          <p:nvPr>
            <p:ph idx="10" type="dt"/>
          </p:nvPr>
        </p:nvSpPr>
        <p:spPr>
          <a:xfrm>
            <a:off x="822960" y="4844839"/>
            <a:ext cx="18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9"/>
          <p:cNvSpPr txBox="1"/>
          <p:nvPr>
            <p:ph idx="11" type="ftr"/>
          </p:nvPr>
        </p:nvSpPr>
        <p:spPr>
          <a:xfrm>
            <a:off x="2764639" y="4844839"/>
            <a:ext cx="361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9"/>
          <p:cNvSpPr txBox="1"/>
          <p:nvPr>
            <p:ph idx="12" type="sldNum"/>
          </p:nvPr>
        </p:nvSpPr>
        <p:spPr>
          <a:xfrm>
            <a:off x="7425343" y="4844839"/>
            <a:ext cx="9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88" name="Google Shape;288;p49"/>
          <p:cNvCxnSpPr/>
          <p:nvPr/>
        </p:nvCxnSpPr>
        <p:spPr>
          <a:xfrm>
            <a:off x="905744" y="3257550"/>
            <a:ext cx="74067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_1">
  <p:cSld name="TITLE_4_1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1" name="Google Shape;291;p5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2" name="Google Shape;292;p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50"/>
          <p:cNvSpPr txBox="1"/>
          <p:nvPr>
            <p:ph type="ctrTitle"/>
          </p:nvPr>
        </p:nvSpPr>
        <p:spPr>
          <a:xfrm>
            <a:off x="727950" y="1936463"/>
            <a:ext cx="7688100" cy="12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000"/>
              <a:buFont typeface="Roboto"/>
              <a:buNone/>
              <a:defRPr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5" name="Google Shape;295;p50"/>
          <p:cNvSpPr txBox="1"/>
          <p:nvPr>
            <p:ph idx="1" type="subTitle"/>
          </p:nvPr>
        </p:nvSpPr>
        <p:spPr>
          <a:xfrm>
            <a:off x="449550" y="3874175"/>
            <a:ext cx="82449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None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6" name="Google Shape;296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7" name="Google Shape;297;p50"/>
          <p:cNvSpPr/>
          <p:nvPr/>
        </p:nvSpPr>
        <p:spPr>
          <a:xfrm>
            <a:off x="830400" y="1053850"/>
            <a:ext cx="745800" cy="24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8" name="Google Shape;298;p50"/>
          <p:cNvSpPr txBox="1"/>
          <p:nvPr>
            <p:ph idx="2" type="ctrTitle"/>
          </p:nvPr>
        </p:nvSpPr>
        <p:spPr>
          <a:xfrm>
            <a:off x="1379700" y="0"/>
            <a:ext cx="7688100" cy="4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None/>
              <a:defRPr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99" name="Google Shape;29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75" y="43225"/>
            <a:ext cx="2892479" cy="66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7175409a_10_0)">
  <p:cSld name="Título e corpo (g3f67175409a_10_0)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1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  <a:defRPr sz="22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1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2" name="Google Shape;302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3" name="Google Shape;303;p51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8.xml"/><Relationship Id="rId6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hyperlink" Target="https://padlet.com/deivisontakatu/frameworks-front-end-2026-2-q7o9r7a6ifppe4ab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deivisontakatu/aula-frameworks-frontend/blob/main/Plano%20de%20Ensino/Plano%20de%20Ensino%20-%20Frameworks%20Front-end.pd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2"/>
          <p:cNvSpPr txBox="1"/>
          <p:nvPr>
            <p:ph type="ctrTitle"/>
          </p:nvPr>
        </p:nvSpPr>
        <p:spPr>
          <a:xfrm>
            <a:off x="727950" y="1936463"/>
            <a:ext cx="7688100" cy="12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/>
              <a:t>Apresentação da Disciplina e Contextualização</a:t>
            </a:r>
            <a:endParaRPr sz="3600"/>
          </a:p>
        </p:txBody>
      </p:sp>
      <p:sp>
        <p:nvSpPr>
          <p:cNvPr id="309" name="Google Shape;309;p52"/>
          <p:cNvSpPr txBox="1"/>
          <p:nvPr/>
        </p:nvSpPr>
        <p:spPr>
          <a:xfrm>
            <a:off x="2499600" y="0"/>
            <a:ext cx="664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latin typeface="Roboto"/>
                <a:ea typeface="Roboto"/>
                <a:cs typeface="Roboto"/>
                <a:sym typeface="Roboto"/>
              </a:rPr>
              <a:t>Frameworks Front-end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52"/>
          <p:cNvSpPr txBox="1"/>
          <p:nvPr>
            <p:ph idx="1" type="subTitle"/>
          </p:nvPr>
        </p:nvSpPr>
        <p:spPr>
          <a:xfrm>
            <a:off x="449550" y="3874175"/>
            <a:ext cx="82449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deivison.takatu@edu.senai.br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Apresentação da Disciplina e Contextualização;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Apresentação - Plano de Aulas e Ensino;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Contexto da Disciplina;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Sequência dos Conteúdos do Semestre;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Metodologia de Ensino;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Critérios de Avaliação;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Atividade;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Conclusão.</a:t>
            </a:r>
            <a:endParaRPr/>
          </a:p>
        </p:txBody>
      </p:sp>
      <p:sp>
        <p:nvSpPr>
          <p:cNvPr id="316" name="Google Shape;316;p53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Sumário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4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Experiências profissionais na área?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Expectativas após a conclusão do curso?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Um hobby ou passatempo.</a:t>
            </a:r>
            <a:endParaRPr/>
          </a:p>
        </p:txBody>
      </p:sp>
      <p:sp>
        <p:nvSpPr>
          <p:cNvPr id="322" name="Google Shape;322;p54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da Turma</a:t>
            </a:r>
            <a:endParaRPr/>
          </a:p>
        </p:txBody>
      </p:sp>
      <p:pic>
        <p:nvPicPr>
          <p:cNvPr id="323" name="Google Shape;323;p54" title="qr_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3950" y="2385725"/>
            <a:ext cx="2041524" cy="204152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54"/>
          <p:cNvSpPr txBox="1"/>
          <p:nvPr/>
        </p:nvSpPr>
        <p:spPr>
          <a:xfrm>
            <a:off x="1072775" y="4575475"/>
            <a:ext cx="699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Link</a:t>
            </a: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pt-BR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https://padlet.com/deivisontakatu/frameworks-front-end-2026-2-q7o9r7a6ifppe4ab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 txBox="1"/>
          <p:nvPr>
            <p:ph idx="1" type="body"/>
          </p:nvPr>
        </p:nvSpPr>
        <p:spPr>
          <a:xfrm>
            <a:off x="274000" y="1486950"/>
            <a:ext cx="42981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Mestre em Ciência da Computação (2021);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Especialização em Inteligência Artificial (Atual);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4 Pós-graduação Lato sensu;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Graduação em Análise e Desenvolvimento de Sistemas (2016).</a:t>
            </a:r>
            <a:endParaRPr sz="1700"/>
          </a:p>
        </p:txBody>
      </p:sp>
      <p:sp>
        <p:nvSpPr>
          <p:cNvPr id="330" name="Google Shape;330;p55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Histórico Acadêmico e Profissional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5"/>
          <p:cNvSpPr txBox="1"/>
          <p:nvPr>
            <p:ph idx="1" type="body"/>
          </p:nvPr>
        </p:nvSpPr>
        <p:spPr>
          <a:xfrm>
            <a:off x="4572050" y="1486950"/>
            <a:ext cx="42981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Gerente de Projetos (2023 - Atual);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Professor Universitário (2022 - Atual);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Coordenador Acadêmico (2019 - 2021);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Professor de Informática (2017 - 2023).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 de Ensino Superior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Produção de Artigos </a:t>
            </a:r>
            <a:r>
              <a:rPr lang="pt-BR"/>
              <a:t>Científicos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Projetos - Gamificação e Educação Financeira.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6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Atuação no SENAI</a:t>
            </a:r>
            <a:endParaRPr/>
          </a:p>
        </p:txBody>
      </p:sp>
      <p:pic>
        <p:nvPicPr>
          <p:cNvPr id="338" name="Google Shape;338;p56"/>
          <p:cNvPicPr preferRelativeResize="0"/>
          <p:nvPr/>
        </p:nvPicPr>
        <p:blipFill rotWithShape="1">
          <a:blip r:embed="rId3">
            <a:alphaModFix/>
          </a:blip>
          <a:srcRect b="0" l="0" r="0" t="12127"/>
          <a:stretch/>
        </p:blipFill>
        <p:spPr>
          <a:xfrm>
            <a:off x="6114098" y="3347933"/>
            <a:ext cx="2341453" cy="1317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550" y="3347933"/>
            <a:ext cx="2341450" cy="131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1325" y="3347933"/>
            <a:ext cx="2341451" cy="1317077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6"/>
          <p:cNvSpPr txBox="1"/>
          <p:nvPr/>
        </p:nvSpPr>
        <p:spPr>
          <a:xfrm>
            <a:off x="2991788" y="4758600"/>
            <a:ext cx="316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Fonte</a:t>
            </a:r>
            <a:r>
              <a:rPr lang="pt-BR" sz="1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: Elaboração própria.</a:t>
            </a: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7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Objetivos de aprendizagem;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Ementa;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Conteúdo Programático;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Metodologia de ensino;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Recursos didáticos;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Avaliação;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Bibliografia.</a:t>
            </a:r>
            <a:endParaRPr/>
          </a:p>
        </p:txBody>
      </p:sp>
      <p:sp>
        <p:nvSpPr>
          <p:cNvPr id="347" name="Google Shape;347;p57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- Plano de Aulas e Ensino</a:t>
            </a:r>
            <a:endParaRPr/>
          </a:p>
        </p:txBody>
      </p:sp>
      <p:sp>
        <p:nvSpPr>
          <p:cNvPr id="348" name="Google Shape;348;p57"/>
          <p:cNvSpPr txBox="1"/>
          <p:nvPr/>
        </p:nvSpPr>
        <p:spPr>
          <a:xfrm>
            <a:off x="5126675" y="4042350"/>
            <a:ext cx="33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Referência</a:t>
            </a: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pt-BR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Plano de Ensino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 da Disciplina</a:t>
            </a:r>
            <a:endParaRPr/>
          </a:p>
        </p:txBody>
      </p:sp>
      <p:sp>
        <p:nvSpPr>
          <p:cNvPr id="354" name="Google Shape;354;p58"/>
          <p:cNvSpPr/>
          <p:nvPr/>
        </p:nvSpPr>
        <p:spPr>
          <a:xfrm>
            <a:off x="688484" y="3233134"/>
            <a:ext cx="3816000" cy="1543800"/>
          </a:xfrm>
          <a:prstGeom prst="roundRect">
            <a:avLst>
              <a:gd fmla="val 3675" name="adj"/>
            </a:avLst>
          </a:prstGeom>
          <a:solidFill>
            <a:srgbClr val="E1E1EA"/>
          </a:solidFill>
          <a:ln cap="flat" cmpd="sng" w="567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450" lIns="54450" spcFirstLastPara="1" rIns="54450" wrap="square" tIns="5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8"/>
          <p:cNvSpPr/>
          <p:nvPr/>
        </p:nvSpPr>
        <p:spPr>
          <a:xfrm>
            <a:off x="828090" y="3372740"/>
            <a:ext cx="405300" cy="405300"/>
          </a:xfrm>
          <a:prstGeom prst="roundRect">
            <a:avLst>
              <a:gd fmla="val 13436980" name="adj"/>
            </a:avLst>
          </a:prstGeom>
          <a:solidFill>
            <a:srgbClr val="1B1B27"/>
          </a:solidFill>
          <a:ln>
            <a:noFill/>
          </a:ln>
        </p:spPr>
        <p:txBody>
          <a:bodyPr anchorCtr="0" anchor="ctr" bIns="54450" lIns="54450" spcFirstLastPara="1" rIns="54450" wrap="square" tIns="5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548" y="3484127"/>
            <a:ext cx="182289" cy="182289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58"/>
          <p:cNvSpPr/>
          <p:nvPr/>
        </p:nvSpPr>
        <p:spPr>
          <a:xfrm>
            <a:off x="828090" y="3913014"/>
            <a:ext cx="16884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10"/>
              <a:buFont typeface="Raleway"/>
              <a:buNone/>
            </a:pPr>
            <a:r>
              <a:rPr b="0" i="0" lang="pt-BR" sz="131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Requisito Estratégico</a:t>
            </a:r>
            <a:endParaRPr b="0" i="0" sz="1310" u="none" cap="none" strike="noStrike"/>
          </a:p>
        </p:txBody>
      </p:sp>
      <p:sp>
        <p:nvSpPr>
          <p:cNvPr id="358" name="Google Shape;358;p58"/>
          <p:cNvSpPr/>
          <p:nvPr/>
        </p:nvSpPr>
        <p:spPr>
          <a:xfrm>
            <a:off x="828090" y="4205060"/>
            <a:ext cx="35367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42"/>
              <a:buFont typeface="Roboto"/>
              <a:buNone/>
            </a:pPr>
            <a:r>
              <a:rPr b="0" i="0" lang="pt-BR" sz="1042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Fundamental para a competitividade </a:t>
            </a:r>
            <a:r>
              <a:rPr lang="pt-BR" sz="104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empresarial</a:t>
            </a:r>
            <a:r>
              <a:rPr lang="pt-BR" sz="104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042" u="none" cap="none" strike="noStrike"/>
          </a:p>
        </p:txBody>
      </p:sp>
      <p:sp>
        <p:nvSpPr>
          <p:cNvPr id="359" name="Google Shape;359;p58"/>
          <p:cNvSpPr/>
          <p:nvPr/>
        </p:nvSpPr>
        <p:spPr>
          <a:xfrm>
            <a:off x="4639501" y="3233134"/>
            <a:ext cx="3816000" cy="1543800"/>
          </a:xfrm>
          <a:prstGeom prst="roundRect">
            <a:avLst>
              <a:gd fmla="val 3675" name="adj"/>
            </a:avLst>
          </a:prstGeom>
          <a:solidFill>
            <a:srgbClr val="E1E1EA"/>
          </a:solidFill>
          <a:ln cap="flat" cmpd="sng" w="567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450" lIns="54450" spcFirstLastPara="1" rIns="54450" wrap="square" tIns="5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8"/>
          <p:cNvSpPr/>
          <p:nvPr/>
        </p:nvSpPr>
        <p:spPr>
          <a:xfrm>
            <a:off x="4779107" y="3372740"/>
            <a:ext cx="405300" cy="405300"/>
          </a:xfrm>
          <a:prstGeom prst="roundRect">
            <a:avLst>
              <a:gd fmla="val 13436980" name="adj"/>
            </a:avLst>
          </a:prstGeom>
          <a:solidFill>
            <a:srgbClr val="1B1B27"/>
          </a:solidFill>
          <a:ln>
            <a:noFill/>
          </a:ln>
        </p:spPr>
        <p:txBody>
          <a:bodyPr anchorCtr="0" anchor="ctr" bIns="54450" lIns="54450" spcFirstLastPara="1" rIns="54450" wrap="square" tIns="5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0565" y="3484127"/>
            <a:ext cx="182289" cy="18228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8"/>
          <p:cNvSpPr/>
          <p:nvPr/>
        </p:nvSpPr>
        <p:spPr>
          <a:xfrm>
            <a:off x="4779098" y="3913025"/>
            <a:ext cx="23703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10"/>
              <a:buFont typeface="Raleway"/>
              <a:buNone/>
            </a:pPr>
            <a:r>
              <a:rPr lang="pt-BR" sz="131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Arquitetura de Software</a:t>
            </a:r>
            <a:endParaRPr b="0" i="0" sz="1310" u="none" cap="none" strike="noStrike"/>
          </a:p>
        </p:txBody>
      </p:sp>
      <p:sp>
        <p:nvSpPr>
          <p:cNvPr id="363" name="Google Shape;363;p58"/>
          <p:cNvSpPr/>
          <p:nvPr/>
        </p:nvSpPr>
        <p:spPr>
          <a:xfrm>
            <a:off x="4779107" y="4205060"/>
            <a:ext cx="35367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42"/>
              <a:buFont typeface="Roboto"/>
              <a:buNone/>
            </a:pPr>
            <a:r>
              <a:rPr b="0" i="0" lang="pt-BR" sz="1042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Como diferentes </a:t>
            </a:r>
            <a:r>
              <a:rPr lang="pt-BR" sz="104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partes </a:t>
            </a:r>
            <a:r>
              <a:rPr b="0" i="0" lang="pt-BR" sz="1042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 interligam para </a:t>
            </a:r>
            <a:r>
              <a:rPr lang="pt-BR" sz="1042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melhoria das aplicações.</a:t>
            </a:r>
            <a:r>
              <a:rPr b="0" i="0" lang="pt-BR" sz="1042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042" u="none" cap="none" strike="noStrike"/>
          </a:p>
        </p:txBody>
      </p:sp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688550" y="1486950"/>
            <a:ext cx="7767000" cy="15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000"/>
              <a:t>Atualmente, boa parte das aplicação web modernas utilizam algum framework Front-end. Empresas precisam desenvolver interfaces rápidas, organizadas e fáceis de manter. 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9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O Front-end é a camada de uma aplicação com a qual o usuário interage diretamente. É responsável pela criação das interfaces, organização visual dos elementos, experiência do usuário e comunicação com os sistemas responsáveis pelo processamento dos dados.</a:t>
            </a:r>
            <a:endParaRPr/>
          </a:p>
        </p:txBody>
      </p:sp>
      <p:sp>
        <p:nvSpPr>
          <p:cNvPr id="370" name="Google Shape;370;p59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Desenvolvimento Front-end?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0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D</a:t>
            </a:r>
            <a:r>
              <a:rPr lang="pt-BR"/>
              <a:t>efinição de escopo, prototipação e UX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Conceito e importância no desenvolvimento web e UX/UI.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Validação de ideias, refinamento de usabilidade e iteração.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Uso de softwares de prototipação e desenvolvimento de projetos.</a:t>
            </a:r>
            <a:endParaRPr/>
          </a:p>
        </p:txBody>
      </p:sp>
      <p:sp>
        <p:nvSpPr>
          <p:cNvPr id="376" name="Google Shape;376;p60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de um Site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1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Versionamento e Deploy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2" name="Google Shape;38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500" y="1602225"/>
            <a:ext cx="3956716" cy="2799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0957" y="1809976"/>
            <a:ext cx="3694543" cy="2383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2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JavaScript (Vanilla JS)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2"/>
          <p:cNvSpPr/>
          <p:nvPr/>
        </p:nvSpPr>
        <p:spPr>
          <a:xfrm>
            <a:off x="1293724" y="1653775"/>
            <a:ext cx="3199800" cy="1544700"/>
          </a:xfrm>
          <a:prstGeom prst="roundRect">
            <a:avLst>
              <a:gd fmla="val 4726" name="adj"/>
            </a:avLst>
          </a:prstGeom>
          <a:solidFill>
            <a:srgbClr val="FFFFFF"/>
          </a:solidFill>
          <a:ln cap="flat" cmpd="sng" w="194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725" lIns="77725" spcFirstLastPara="1" rIns="77725" wrap="square" tIns="7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2"/>
          <p:cNvSpPr/>
          <p:nvPr/>
        </p:nvSpPr>
        <p:spPr>
          <a:xfrm>
            <a:off x="1486941" y="1846992"/>
            <a:ext cx="2172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 que é?</a:t>
            </a:r>
            <a:endParaRPr b="0" i="0" sz="1700" u="none" cap="none" strike="noStrike"/>
          </a:p>
        </p:txBody>
      </p:sp>
      <p:sp>
        <p:nvSpPr>
          <p:cNvPr id="391" name="Google Shape;391;p62"/>
          <p:cNvSpPr/>
          <p:nvPr/>
        </p:nvSpPr>
        <p:spPr>
          <a:xfrm>
            <a:off x="1486941" y="2212476"/>
            <a:ext cx="2813400" cy="7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60"/>
              <a:buFont typeface="Inter"/>
              <a:buNone/>
            </a:pPr>
            <a:r>
              <a:rPr b="0" i="0" lang="pt-BR" sz="13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Linguagem de script interpretada, essencial para o desenvolvimento front-end.</a:t>
            </a:r>
            <a:endParaRPr b="0" i="0" sz="1360" u="none" cap="none" strike="noStrike"/>
          </a:p>
        </p:txBody>
      </p:sp>
      <p:sp>
        <p:nvSpPr>
          <p:cNvPr id="392" name="Google Shape;392;p62"/>
          <p:cNvSpPr/>
          <p:nvPr/>
        </p:nvSpPr>
        <p:spPr>
          <a:xfrm>
            <a:off x="4650279" y="1653775"/>
            <a:ext cx="3199800" cy="1544700"/>
          </a:xfrm>
          <a:prstGeom prst="roundRect">
            <a:avLst>
              <a:gd fmla="val 4726" name="adj"/>
            </a:avLst>
          </a:prstGeom>
          <a:solidFill>
            <a:srgbClr val="FFFFFF"/>
          </a:solidFill>
          <a:ln cap="flat" cmpd="sng" w="194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725" lIns="77725" spcFirstLastPara="1" rIns="77725" wrap="square" tIns="7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62"/>
          <p:cNvSpPr/>
          <p:nvPr/>
        </p:nvSpPr>
        <p:spPr>
          <a:xfrm>
            <a:off x="4843497" y="1846992"/>
            <a:ext cx="2172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Vanilla JS</a:t>
            </a:r>
            <a:endParaRPr b="0" i="0" sz="1700" u="none" cap="none" strike="noStrike"/>
          </a:p>
        </p:txBody>
      </p:sp>
      <p:sp>
        <p:nvSpPr>
          <p:cNvPr id="394" name="Google Shape;394;p62"/>
          <p:cNvSpPr/>
          <p:nvPr/>
        </p:nvSpPr>
        <p:spPr>
          <a:xfrm>
            <a:off x="4843497" y="2212476"/>
            <a:ext cx="2813400" cy="7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60"/>
              <a:buFont typeface="Inter"/>
              <a:buNone/>
            </a:pPr>
            <a:r>
              <a:rPr b="0" i="0" lang="pt-BR" sz="13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JavaScript puro, sem dependências externas, base para todas as abstrações.</a:t>
            </a:r>
            <a:endParaRPr b="0" i="0" sz="1360" u="none" cap="none" strike="noStrike"/>
          </a:p>
        </p:txBody>
      </p:sp>
      <p:sp>
        <p:nvSpPr>
          <p:cNvPr id="395" name="Google Shape;395;p62"/>
          <p:cNvSpPr/>
          <p:nvPr/>
        </p:nvSpPr>
        <p:spPr>
          <a:xfrm>
            <a:off x="1293724" y="3355184"/>
            <a:ext cx="6556500" cy="1280400"/>
          </a:xfrm>
          <a:prstGeom prst="roundRect">
            <a:avLst>
              <a:gd fmla="val 5702" name="adj"/>
            </a:avLst>
          </a:prstGeom>
          <a:solidFill>
            <a:srgbClr val="FFFFFF"/>
          </a:solidFill>
          <a:ln cap="flat" cmpd="sng" w="194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725" lIns="77725" spcFirstLastPara="1" rIns="77725" wrap="square" tIns="7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62"/>
          <p:cNvSpPr/>
          <p:nvPr/>
        </p:nvSpPr>
        <p:spPr>
          <a:xfrm>
            <a:off x="1486941" y="3548401"/>
            <a:ext cx="2172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Importância</a:t>
            </a:r>
            <a:endParaRPr b="0" i="0" sz="1700" u="none" cap="none" strike="noStrike"/>
          </a:p>
        </p:txBody>
      </p:sp>
      <p:sp>
        <p:nvSpPr>
          <p:cNvPr id="397" name="Google Shape;397;p62"/>
          <p:cNvSpPr/>
          <p:nvPr/>
        </p:nvSpPr>
        <p:spPr>
          <a:xfrm>
            <a:off x="1486941" y="3913886"/>
            <a:ext cx="61701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60"/>
              <a:buFont typeface="Inter"/>
              <a:buNone/>
            </a:pPr>
            <a:r>
              <a:rPr b="0" i="0" lang="pt-BR" sz="136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Permite manipulação de páginas, comunicação com servidores e lógica de interface.</a:t>
            </a:r>
            <a:endParaRPr b="0" i="0" sz="136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3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1. Vamos criar um projeto em Vanilla JS Utilizando as linguagens HTML, CSS e JavaScript. Em seguida, iremos conectar o IDE (Ambiente de Desenvolvimento Integrado, ou Integrated Development Environment) com o Github e realizar o deploy da aplicação através da ferramenta Vercel.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63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01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4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Conceito, importância e benefícios no desenvolvimento web;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Principais Frameworks e Bibliotecas – Introdução a React, Vue e Angular;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Arquitetura e Componentização – Como os frameworks organizam a estrutura do código e facilitam a reutilização;</a:t>
            </a:r>
            <a:endParaRPr sz="1900"/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Estado, Rotas e Gerenciamento de Dados – Manipulação do estado da aplicação, roteamento e integração com APIs.</a:t>
            </a:r>
            <a:endParaRPr sz="1900"/>
          </a:p>
        </p:txBody>
      </p:sp>
      <p:sp>
        <p:nvSpPr>
          <p:cNvPr id="409" name="Google Shape;409;p64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 Frameworks Front-end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5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Nesta disciplina aprenderemos a desenvolver aplicações Web modernas utilizando Frameworks Front-end.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Principais temas: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Ambiente de desenvolvimento;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Frameworks CSS e Front-end;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Componentes e interfaces;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Boas práticas;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Deploy de aplicações.</a:t>
            </a:r>
            <a:endParaRPr/>
          </a:p>
        </p:txBody>
      </p:sp>
      <p:sp>
        <p:nvSpPr>
          <p:cNvPr id="415" name="Google Shape;415;p65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Estudaremos?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6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final do semestre, você será capaz de:</a:t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Desenvolver interfaces modernas;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Criar aplicações com Frameworks Front-end;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Utilizar Git e GitHub;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Publicar aplicações na Web.</a:t>
            </a:r>
            <a:endParaRPr/>
          </a:p>
        </p:txBody>
      </p:sp>
      <p:sp>
        <p:nvSpPr>
          <p:cNvPr id="421" name="Google Shape;421;p66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 da Disciplina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7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Aulas expositivas dialogadas para construção conceitual.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Discussões para estimular o pensamento crítico.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Estudos de caso e cenários industriais.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Conexão entre teoria, prática e experiências profissionais.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67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Ensino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8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55% — Avaliação Docente;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20% — </a:t>
            </a:r>
            <a:r>
              <a:rPr lang="pt-BR"/>
              <a:t>Desenvolvimento de Projeto</a:t>
            </a:r>
            <a:r>
              <a:rPr lang="pt-BR"/>
              <a:t>;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20% — Apresentação do Projeto;</a:t>
            </a:r>
            <a:endParaRPr/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/>
              <a:t>15% — Realização das atividades.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35% — Projeto Integrador;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10% — Autoavaliação.</a:t>
            </a:r>
            <a:endParaRPr/>
          </a:p>
        </p:txBody>
      </p:sp>
      <p:sp>
        <p:nvSpPr>
          <p:cNvPr id="433" name="Google Shape;433;p68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Critérios de Avaliação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9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 avaliação final será composta pela documentação completa do projeto, que deve ser elaborada como um “mini TCC”. A documentação deve incluir todos os aspectos do desenvolvimento, desde a concepção inicial até a entrega final, abordando as etapas de planejamento, execução, resultados obtidos, desafios enfrentados, soluções adotadas, e análise crítica do projeto.</a:t>
            </a:r>
            <a:endParaRPr sz="1800"/>
          </a:p>
        </p:txBody>
      </p:sp>
      <p:sp>
        <p:nvSpPr>
          <p:cNvPr id="439" name="Google Shape;439;p69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Desenvolvimento de Projeto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0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 avaliação será baseada na entrega e apresentação do projeto, com foco no processo de gestão adotado, incluindo a organização do backlog, as páginas desenvolvidas, e a análise de benchmarking realizada. A apresentação deve destacar como a realização do desenvolvimento e a implementação de funcionalidades contribuíram para o avanço do projeto, bem como as comparações feitas com outras soluções disponíveis no mercado.</a:t>
            </a:r>
            <a:endParaRPr sz="1800"/>
          </a:p>
        </p:txBody>
      </p:sp>
      <p:sp>
        <p:nvSpPr>
          <p:cNvPr id="445" name="Google Shape;445;p70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do Projeto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1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Ter um portfólio de projetos para a disciplina de Frameworks Front-End permite demonstrar habilidades práticas, criatividade e domínio de ferramentas essenciais para o desenvolvimento web.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Ele funciona como evidência concreta do aprendizado, facilitando a avaliação pelo professor e ampliando oportunidades em estágios e empregos na área.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Além disso, incentiva a organização, a melhoria contínua e o desenvolvimento de soluções reais, preparando o aluno para desafios do mercado profissional.</a:t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51" name="Google Shape;451;p71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Dica Importante!!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2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1. Formem grupos de 3 a 5 integrantes. Importante: As atividades semanais deverão ser desenvolvidas e entregues em grupo, utilizando essa mesma composição.</a:t>
            </a:r>
            <a:endParaRPr sz="19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900"/>
              <a:t>2</a:t>
            </a:r>
            <a:r>
              <a:rPr lang="pt-BR" sz="1900"/>
              <a:t>. </a:t>
            </a:r>
            <a:r>
              <a:rPr lang="pt-BR" sz="1900"/>
              <a:t>Criem</a:t>
            </a:r>
            <a:r>
              <a:rPr lang="pt-BR" sz="1900"/>
              <a:t> um repositório no GitHub, que servirá como diretório principal das atividades da disciplina durante todo o semestre. No repositório, deverá ser criado um arquivo Markdown (.md) contendo um resumo da Aula 01, abordando os principais conceitos discutidos.</a:t>
            </a:r>
            <a:endParaRPr sz="19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7" name="Google Shape;457;p72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02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3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000"/>
              <a:t>3. Em grupos, escolham um Framework Front-end e elaborem um relatório técnico em PDF (mínimo de 5 páginas) apresentando suas principais características, vantagens, aplicações no mercado e um exemplo de utilização em um projeto Web.</a:t>
            </a:r>
            <a:endParaRPr sz="2000"/>
          </a:p>
        </p:txBody>
      </p:sp>
      <p:sp>
        <p:nvSpPr>
          <p:cNvPr id="463" name="Google Shape;463;p73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02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4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Apresentação inicial da disciplina;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Entendimento dos Planos de Aulas e Ensino;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Apresentação do Conteúdo Programático;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Metodologia de Ensino;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Critérios de Avaliação;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/>
              <a:t>Primeira Atividade.</a:t>
            </a:r>
            <a:endParaRPr/>
          </a:p>
        </p:txBody>
      </p:sp>
      <p:sp>
        <p:nvSpPr>
          <p:cNvPr id="469" name="Google Shape;469;p74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5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1. SOUZA, Natan. **Bootstrap 4: conheça a biblioteca front-end mais utilizada no mundo.** São Paulo: Casa do Código, 2018. E-book. Disponível em: https://plataforma.bvirtual.com.br.</a:t>
            </a:r>
            <a:endParaRPr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400"/>
              <a:t>2. MACHADO, Kheronn Khennedy. **Angular 11 e Firebase: construindo uma aplicação integrada com a plataforma do Google.** São Paulo: Casa do Código, 2021. E-book. Disponível em: https://plataforma.bvirtual.com.br. Acesso em: 13 maio 2025.</a:t>
            </a:r>
            <a:endParaRPr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400"/>
              <a:t>3. EIS, Diego. **Guia Front-end: o caminho das pedras para ser um dev front-end.** São Paulo: Casa do Código, 2015. E-book. Disponível em: https://plataforma.bvirtual.com.br.</a:t>
            </a:r>
            <a:endParaRPr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400"/>
              <a:t>4. GONÇALVES, Edson. **Desenvolvendo aplicações Web com JSP, Servlets, JavaServer Faces, Hibernate, EJB 3 Persistence e Ajax.** Rio de Janeiro: Ciência Moderna, c2007.</a:t>
            </a:r>
            <a:endParaRPr sz="14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75" name="Google Shape;475;p75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6"/>
          <p:cNvSpPr txBox="1"/>
          <p:nvPr>
            <p:ph idx="1" type="body"/>
          </p:nvPr>
        </p:nvSpPr>
        <p:spPr>
          <a:xfrm>
            <a:off x="688550" y="1486950"/>
            <a:ext cx="77670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5. HARTCOPP, Patrícia Ferreira. **Métrica Web.** São Paulo: Contentus, 2020. E-book (94 p.). Disponível em: https://plataforma.bvirtual.com.br/Acervo/Publicacao/185191. Acesso em: 30 abr. 2024.</a:t>
            </a:r>
            <a:endParaRPr sz="13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300"/>
              <a:t>6. NIEDERAUER, Juliano. **Desenvolvendo Websites com PHP: aprenda a criar Websites dinâmicos e interativos com PHP e banco de dados.** 3. ed. São Paulo: Novatec, 2017.</a:t>
            </a:r>
            <a:endParaRPr sz="13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300"/>
              <a:t>7. PREECE, J.; ROGERS, Y.; SHARP, H. **Design de Interação: além da interação Homem-Computador.** 3. ed. Porto Alegre: Bookman, 2013.</a:t>
            </a:r>
            <a:endParaRPr sz="13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300"/>
              <a:t>8. SOUSA, Roque Fernando Marcos. **Canvas HTML 5: composição gráfica e interatividade na Web.** Rio de Janeiro: Brasport, 2014. E-book (194 p.). Disponível em: https://plataforma.bvirtual.com.br/Acervo/Publicacao/160686. Acesso em: 22 jun. 2024.</a:t>
            </a:r>
            <a:endParaRPr sz="13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481" name="Google Shape;481;p76"/>
          <p:cNvSpPr txBox="1"/>
          <p:nvPr>
            <p:ph type="title"/>
          </p:nvPr>
        </p:nvSpPr>
        <p:spPr>
          <a:xfrm>
            <a:off x="688463" y="732675"/>
            <a:ext cx="7767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7"/>
          <p:cNvSpPr txBox="1"/>
          <p:nvPr>
            <p:ph type="ctrTitle"/>
          </p:nvPr>
        </p:nvSpPr>
        <p:spPr>
          <a:xfrm>
            <a:off x="727950" y="1936463"/>
            <a:ext cx="7688100" cy="12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/>
              <a:t>Apresentação da Disciplina e Contextualização</a:t>
            </a:r>
            <a:endParaRPr sz="3600"/>
          </a:p>
        </p:txBody>
      </p:sp>
      <p:sp>
        <p:nvSpPr>
          <p:cNvPr id="487" name="Google Shape;487;p77"/>
          <p:cNvSpPr txBox="1"/>
          <p:nvPr/>
        </p:nvSpPr>
        <p:spPr>
          <a:xfrm>
            <a:off x="2499600" y="0"/>
            <a:ext cx="664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latin typeface="Roboto"/>
                <a:ea typeface="Roboto"/>
                <a:cs typeface="Roboto"/>
                <a:sym typeface="Roboto"/>
              </a:rPr>
              <a:t>Frameworks Front-end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7"/>
          <p:cNvSpPr txBox="1"/>
          <p:nvPr>
            <p:ph idx="1" type="subTitle"/>
          </p:nvPr>
        </p:nvSpPr>
        <p:spPr>
          <a:xfrm>
            <a:off x="449550" y="3874175"/>
            <a:ext cx="82449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deivison.takatu@edu.senai.br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